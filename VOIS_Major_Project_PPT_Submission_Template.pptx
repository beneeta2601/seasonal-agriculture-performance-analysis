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187318" y="3863280"/>
            <a:ext cx="5748320" cy="384027"/>
          </a:xfrm>
        </p:spPr>
        <p:txBody>
          <a:bodyPr vert="horz" lIns="91440" tIns="45720" rIns="91440" bIns="45720" rtlCol="0" anchor="t">
            <a:noAutofit/>
          </a:bodyPr>
          <a:lstStyle/>
          <a:p>
            <a:pPr algn="ctr"/>
            <a:r>
              <a:rPr lang="en-US" sz="1800" dirty="0">
                <a:solidFill>
                  <a:schemeClr val="tx1"/>
                </a:solidFill>
              </a:rPr>
              <a:t>COLLEGE: </a:t>
            </a:r>
            <a:r>
              <a:rPr lang="en-US" sz="1800" b="0" dirty="0">
                <a:solidFill>
                  <a:schemeClr val="tx1"/>
                </a:solidFill>
              </a:rPr>
              <a:t>PRESIDENCY UNIVERSITY, BENGALURU </a:t>
            </a:r>
            <a:endParaRPr lang="en-IN" sz="18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71329" y="2709408"/>
            <a:ext cx="9449047" cy="743448"/>
          </a:xfrm>
        </p:spPr>
        <p:txBody>
          <a:bodyPr>
            <a:normAutofit fontScale="90000"/>
          </a:bodyPr>
          <a:lstStyle/>
          <a:p>
            <a:pPr algn="ctr"/>
            <a:r>
              <a:rPr lang="en-GB" sz="3200" dirty="0"/>
              <a:t>Project Title - </a:t>
            </a:r>
            <a:r>
              <a:rPr lang="en-US" sz="3200" dirty="0">
                <a:latin typeface="Aptos Display Bold"/>
              </a:rPr>
              <a:t>Seasonal Agriculture Performance Analysis</a:t>
            </a:r>
            <a:endParaRPr lang="en-IN" sz="3200" dirty="0">
              <a:latin typeface="Aptos Display Bold"/>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164897" y="2650383"/>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518249" y="4354733"/>
            <a:ext cx="4813540" cy="646331"/>
          </a:xfrm>
          <a:prstGeom prst="rect">
            <a:avLst/>
          </a:prstGeom>
          <a:noFill/>
        </p:spPr>
        <p:txBody>
          <a:bodyPr wrap="square" rtlCol="0">
            <a:spAutoFit/>
          </a:bodyPr>
          <a:lstStyle/>
          <a:p>
            <a:r>
              <a:rPr lang="en-US" b="1" dirty="0"/>
              <a:t>AICTE STU ID : </a:t>
            </a:r>
            <a:r>
              <a:rPr lang="en-IN" dirty="0"/>
              <a:t>STU6a2b951ed47561781241118</a:t>
            </a:r>
            <a:endParaRPr lang="en-US" b="1" dirty="0"/>
          </a:p>
        </p:txBody>
      </p:sp>
      <p:sp>
        <p:nvSpPr>
          <p:cNvPr id="5" name="TextBox 4">
            <a:extLst>
              <a:ext uri="{FF2B5EF4-FFF2-40B4-BE49-F238E27FC236}">
                <a16:creationId xmlns:a16="http://schemas.microsoft.com/office/drawing/2014/main" id="{503D0E66-E6CF-E70C-E358-3E86389226AE}"/>
              </a:ext>
            </a:extLst>
          </p:cNvPr>
          <p:cNvSpPr txBox="1"/>
          <p:nvPr/>
        </p:nvSpPr>
        <p:spPr>
          <a:xfrm>
            <a:off x="1187318" y="3429000"/>
            <a:ext cx="3312160" cy="369332"/>
          </a:xfrm>
          <a:prstGeom prst="rect">
            <a:avLst/>
          </a:prstGeom>
          <a:noFill/>
        </p:spPr>
        <p:txBody>
          <a:bodyPr wrap="square" rtlCol="0">
            <a:spAutoFit/>
          </a:bodyPr>
          <a:lstStyle/>
          <a:p>
            <a:pPr algn="ctr"/>
            <a:r>
              <a:rPr lang="en-US" b="1" dirty="0"/>
              <a:t>NAME: </a:t>
            </a:r>
            <a:r>
              <a:rPr lang="en-US" dirty="0"/>
              <a:t>BENEETA JOHN</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625006"/>
            <a:ext cx="7983956" cy="4767168"/>
          </a:xfrm>
        </p:spPr>
        <p:txBody>
          <a:bodyPr vert="horz" lIns="91440" tIns="45720" rIns="91440" bIns="45720" rtlCol="0" anchor="t">
            <a:noAutofit/>
          </a:bodyPr>
          <a:lstStyle/>
          <a:p>
            <a:r>
              <a:rPr lang="en-US" sz="2400" dirty="0"/>
              <a:t>Agricultural performance is influenced by seasonal variations in environmental conditions, farming practices, resource availability, and market conditions.</a:t>
            </a:r>
          </a:p>
          <a:p>
            <a:r>
              <a:rPr lang="en-US" sz="2400" dirty="0"/>
              <a:t>Raw agricultural data does not clearly explain how agricultural performance changes across seasons or what patterns exist under different seasonal conditions.</a:t>
            </a:r>
          </a:p>
          <a:p>
            <a:r>
              <a:rPr lang="en-US" sz="2400" dirty="0"/>
              <a:t>This project analyzes the agricultural dataset to identify seasonal differences, meaningful patterns, trends, relationships, and variations in agricultural performance.</a:t>
            </a:r>
            <a:endParaRPr lang="en-IN" sz="24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744969" y="882850"/>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FCBB97F-854B-3BA1-CCAB-C99EA2986518}"/>
              </a:ext>
            </a:extLst>
          </p:cNvPr>
          <p:cNvSpPr txBox="1"/>
          <p:nvPr/>
        </p:nvSpPr>
        <p:spPr>
          <a:xfrm>
            <a:off x="744969" y="2015440"/>
            <a:ext cx="8281359" cy="4093428"/>
          </a:xfrm>
          <a:prstGeom prst="rect">
            <a:avLst/>
          </a:prstGeom>
          <a:noFill/>
        </p:spPr>
        <p:txBody>
          <a:bodyPr wrap="square" rtlCol="0">
            <a:spAutoFit/>
          </a:bodyPr>
          <a:lstStyle/>
          <a:p>
            <a:r>
              <a:rPr lang="en-US" sz="2000" dirty="0"/>
              <a:t>Seasonal Agriculture Performance Analysis is a data analytics project that studies agricultural activities across different seasons, geographical areas, and farming conditions.</a:t>
            </a:r>
          </a:p>
          <a:p>
            <a:endParaRPr lang="en-US" sz="2000" dirty="0"/>
          </a:p>
          <a:p>
            <a:r>
              <a:rPr lang="en-US" sz="2000" dirty="0"/>
              <a:t>The dataset contains information about environmental conditions, farming practices, crop production, resource usage, and economic performance.</a:t>
            </a:r>
          </a:p>
          <a:p>
            <a:endParaRPr lang="en-US" sz="2000" dirty="0"/>
          </a:p>
          <a:p>
            <a:r>
              <a:rPr lang="en-US" sz="2000" dirty="0"/>
              <a:t>The project uses Python-based data analysis and visualization to clean the data, compare agricultural performance across seasons, analyze relationships between variables, identify patterns and unusual observations, and generate evidence-based insights and recommendations.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58447"/>
            <a:ext cx="8836709" cy="3990023"/>
          </a:xfrm>
        </p:spPr>
        <p:txBody>
          <a:bodyPr>
            <a:normAutofit fontScale="62500" lnSpcReduction="20000"/>
          </a:bodyPr>
          <a:lstStyle/>
          <a:p>
            <a:r>
              <a:rPr lang="en-US" sz="3600" b="1" dirty="0"/>
              <a:t>Farmers</a:t>
            </a:r>
            <a:br>
              <a:rPr lang="en-US" sz="3600" dirty="0"/>
            </a:br>
            <a:r>
              <a:rPr lang="en-US" sz="3600" dirty="0"/>
              <a:t>To understand seasonal crop performance and make better farming decisions.</a:t>
            </a:r>
          </a:p>
          <a:p>
            <a:r>
              <a:rPr lang="en-US" sz="3600" b="1" dirty="0"/>
              <a:t>Agricultural Departments</a:t>
            </a:r>
            <a:br>
              <a:rPr lang="en-US" sz="3600" dirty="0"/>
            </a:br>
            <a:r>
              <a:rPr lang="en-US" sz="3600" dirty="0"/>
              <a:t>To support evidence-based agricultural planning and identify seasonal trends.</a:t>
            </a:r>
          </a:p>
          <a:p>
            <a:r>
              <a:rPr lang="en-US" sz="3600" b="1" dirty="0"/>
              <a:t>Agricultural Analysts &amp; Researchers</a:t>
            </a:r>
            <a:br>
              <a:rPr lang="en-US" sz="3600" dirty="0"/>
            </a:br>
            <a:r>
              <a:rPr lang="en-US" sz="3600" dirty="0"/>
              <a:t>To analyze patterns, relationships, resource usage, and agricultural outcomes.</a:t>
            </a:r>
          </a:p>
          <a:p>
            <a:r>
              <a:rPr lang="en-US" sz="3600" dirty="0"/>
              <a:t> </a:t>
            </a:r>
            <a:r>
              <a:rPr lang="en-US" sz="3600" b="1" dirty="0"/>
              <a:t>Agricultural Planners &amp; Decision Makers</a:t>
            </a:r>
            <a:br>
              <a:rPr lang="en-US" sz="3600" dirty="0"/>
            </a:br>
            <a:r>
              <a:rPr lang="en-US" sz="3600" dirty="0"/>
              <a:t>To compare seasonal performance and support resource and crop planning.</a:t>
            </a:r>
          </a:p>
          <a:p>
            <a:pPr>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23358" y="1278384"/>
            <a:ext cx="7994961" cy="3940597"/>
          </a:xfrm>
        </p:spPr>
        <p:txBody>
          <a:bodyPr/>
          <a:lstStyle/>
          <a:p>
            <a:r>
              <a:rPr lang="en-US" b="1" dirty="0"/>
              <a:t>Programming Language</a:t>
            </a:r>
          </a:p>
          <a:p>
            <a:pPr marL="0" indent="0">
              <a:buNone/>
            </a:pPr>
            <a:r>
              <a:rPr lang="en-US" b="1" dirty="0"/>
              <a:t>     </a:t>
            </a:r>
            <a:r>
              <a:rPr lang="en-US" dirty="0"/>
              <a:t>Python</a:t>
            </a:r>
          </a:p>
          <a:p>
            <a:r>
              <a:rPr lang="en-US" b="1" dirty="0"/>
              <a:t>Data Analysis &amp; Visualization</a:t>
            </a:r>
          </a:p>
          <a:p>
            <a:pPr marL="0" indent="0">
              <a:buNone/>
            </a:pPr>
            <a:r>
              <a:rPr lang="en-US" dirty="0"/>
              <a:t>     Pandas • NumPy • Matplotlib • Seaborn • SciPy</a:t>
            </a:r>
          </a:p>
          <a:p>
            <a:r>
              <a:rPr lang="en-US" b="1" dirty="0"/>
              <a:t>Development &amp; Project Management</a:t>
            </a:r>
          </a:p>
          <a:p>
            <a:pPr marL="0" indent="0">
              <a:buNone/>
            </a:pPr>
            <a:r>
              <a:rPr lang="en-US" dirty="0"/>
              <a:t>     Google </a:t>
            </a:r>
            <a:r>
              <a:rPr lang="en-US" dirty="0" err="1"/>
              <a:t>Colab</a:t>
            </a:r>
            <a:r>
              <a:rPr lang="en-US" dirty="0"/>
              <a:t> • Jupyter Notebook • GitHub</a:t>
            </a:r>
          </a:p>
          <a:p>
            <a:endParaRPr lang="en-US"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10656072" cy="830997"/>
          </a:xfrm>
        </p:spPr>
        <p:txBody>
          <a:bodyPr>
            <a:normAutofit fontScale="90000"/>
          </a:bodyPr>
          <a:lstStyle/>
          <a:p>
            <a:pPr algn="ctr"/>
            <a:r>
              <a:rPr lang="en-GB" dirty="0"/>
              <a:t>RESULTS </a:t>
            </a:r>
            <a:r>
              <a:rPr lang="en-US" dirty="0"/>
              <a:t>– SEASONAL YIELD ANALYSIS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The image depicts a bar chart illustrating the average agricultural yield per hectare across different seasons: Kharif, Rabi, and Zaid.&#10;&#10;AI-generated content may be incorrect.">
            <a:extLst>
              <a:ext uri="{FF2B5EF4-FFF2-40B4-BE49-F238E27FC236}">
                <a16:creationId xmlns:a16="http://schemas.microsoft.com/office/drawing/2014/main" id="{B93EF9EB-335E-F8D7-E6DB-13EEBF5615A9}"/>
              </a:ext>
            </a:extLst>
          </p:cNvPr>
          <p:cNvPicPr>
            <a:picLocks noChangeAspect="1"/>
          </p:cNvPicPr>
          <p:nvPr/>
        </p:nvPicPr>
        <p:blipFill>
          <a:blip r:embed="rId3"/>
          <a:stretch>
            <a:fillRect/>
          </a:stretch>
        </p:blipFill>
        <p:spPr>
          <a:xfrm>
            <a:off x="1359021" y="1275371"/>
            <a:ext cx="5292195" cy="3668631"/>
          </a:xfrm>
          <a:prstGeom prst="rect">
            <a:avLst/>
          </a:prstGeom>
        </p:spPr>
      </p:pic>
      <p:sp>
        <p:nvSpPr>
          <p:cNvPr id="12" name="Text Placeholder 11">
            <a:extLst>
              <a:ext uri="{FF2B5EF4-FFF2-40B4-BE49-F238E27FC236}">
                <a16:creationId xmlns:a16="http://schemas.microsoft.com/office/drawing/2014/main" id="{77B56929-DDCE-2B9F-B0C8-DFF2A4887548}"/>
              </a:ext>
            </a:extLst>
          </p:cNvPr>
          <p:cNvSpPr>
            <a:spLocks noGrp="1"/>
          </p:cNvSpPr>
          <p:nvPr>
            <p:ph type="body" sz="quarter" idx="12"/>
          </p:nvPr>
        </p:nvSpPr>
        <p:spPr>
          <a:xfrm>
            <a:off x="1540176" y="5017787"/>
            <a:ext cx="5823215" cy="1370664"/>
          </a:xfrm>
        </p:spPr>
        <p:txBody>
          <a:bodyPr>
            <a:noAutofit/>
          </a:bodyPr>
          <a:lstStyle/>
          <a:p>
            <a:pPr marL="0" indent="0">
              <a:buNone/>
            </a:pPr>
            <a:r>
              <a:rPr lang="en-US" sz="1800" dirty="0"/>
              <a:t>Kharif recorded the highest observed average yield (5.63 </a:t>
            </a:r>
            <a:r>
              <a:rPr lang="en-US" sz="1800" dirty="0" err="1"/>
              <a:t>tonnes</a:t>
            </a:r>
            <a:r>
              <a:rPr lang="en-US" sz="1800" dirty="0"/>
              <a:t>/ha), followed by Rabi (5.04 </a:t>
            </a:r>
            <a:r>
              <a:rPr lang="en-US" sz="1800" dirty="0" err="1"/>
              <a:t>tonnes</a:t>
            </a:r>
            <a:r>
              <a:rPr lang="en-US" sz="1800" dirty="0"/>
              <a:t>/ha) and Zaid (4.64 </a:t>
            </a:r>
            <a:r>
              <a:rPr lang="en-US" sz="1800" dirty="0" err="1"/>
              <a:t>tonnes</a:t>
            </a:r>
            <a:r>
              <a:rPr lang="en-US" sz="1800" dirty="0"/>
              <a:t>/ha).</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6" y="370589"/>
            <a:ext cx="9753379" cy="830997"/>
          </a:xfrm>
        </p:spPr>
        <p:txBody>
          <a:bodyPr>
            <a:normAutofit fontScale="90000"/>
          </a:bodyPr>
          <a:lstStyle/>
          <a:p>
            <a:pPr algn="ctr"/>
            <a:r>
              <a:rPr lang="en-GB" dirty="0"/>
              <a:t>RESULTS </a:t>
            </a:r>
            <a:r>
              <a:rPr lang="en-US" dirty="0"/>
              <a:t>– SEASONAL PROFITABILITY ANALYSIS</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1509623" y="5279366"/>
            <a:ext cx="5365630" cy="1192554"/>
          </a:xfrm>
        </p:spPr>
        <p:txBody>
          <a:bodyPr>
            <a:noAutofit/>
          </a:bodyPr>
          <a:lstStyle/>
          <a:p>
            <a:pPr marL="0" indent="0">
              <a:buNone/>
            </a:pPr>
            <a:r>
              <a:rPr lang="en-US" sz="1800" dirty="0"/>
              <a:t>Kharif recorded the highest average profit (₹1.79 lakh), followed by Rabi (₹0.88 lakh), while Zaid recorded an average loss of ₹0.25 lakh.</a:t>
            </a:r>
            <a:endParaRPr lang="en-IN" sz="1800" dirty="0"/>
          </a:p>
        </p:txBody>
      </p:sp>
      <p:pic>
        <p:nvPicPr>
          <p:cNvPr id="9" name="Picture 8" descr="The image displays a bar chart indicating the average agricultural profits (in INR) across different seasons, with Kharif, Rabi, and Zaid seasons being represented.&#10;&#10;AI-generated content may be incorrect.">
            <a:extLst>
              <a:ext uri="{FF2B5EF4-FFF2-40B4-BE49-F238E27FC236}">
                <a16:creationId xmlns:a16="http://schemas.microsoft.com/office/drawing/2014/main" id="{C69054CB-2E72-4601-846A-9C95EE5C4476}"/>
              </a:ext>
            </a:extLst>
          </p:cNvPr>
          <p:cNvPicPr>
            <a:picLocks noChangeAspect="1"/>
          </p:cNvPicPr>
          <p:nvPr/>
        </p:nvPicPr>
        <p:blipFill>
          <a:blip r:embed="rId3"/>
          <a:stretch>
            <a:fillRect/>
          </a:stretch>
        </p:blipFill>
        <p:spPr>
          <a:xfrm>
            <a:off x="831752" y="1758122"/>
            <a:ext cx="5264248" cy="341739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10020798" cy="830997"/>
          </a:xfrm>
        </p:spPr>
        <p:txBody>
          <a:bodyPr>
            <a:normAutofit fontScale="90000"/>
          </a:bodyPr>
          <a:lstStyle/>
          <a:p>
            <a:pPr algn="ctr"/>
            <a:r>
              <a:rPr lang="en-GB" dirty="0"/>
              <a:t>RESULTS </a:t>
            </a:r>
            <a:r>
              <a:rPr lang="en-US" dirty="0"/>
              <a:t>– IRRIGATION &amp; WATER EFFICIENCY</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1367879" y="5417654"/>
            <a:ext cx="5757539" cy="1054265"/>
          </a:xfrm>
        </p:spPr>
        <p:txBody>
          <a:bodyPr>
            <a:noAutofit/>
          </a:bodyPr>
          <a:lstStyle/>
          <a:p>
            <a:pPr marL="0" indent="0">
              <a:buNone/>
            </a:pPr>
            <a:r>
              <a:rPr lang="en-US" sz="1600" dirty="0"/>
              <a:t>Rainfed farming recorded the highest average water efficiency (7.56 t/1000 m³), while Flood irrigation recorded the lowest (3.44 t/1000 m³).</a:t>
            </a:r>
            <a:endParaRPr lang="en-IN" sz="1600" dirty="0"/>
          </a:p>
        </p:txBody>
      </p:sp>
      <p:pic>
        <p:nvPicPr>
          <p:cNvPr id="9" name="Picture 8" descr="The image depicts a bar chart comparing average water efficiency (measured in tonnes per 1000 mￂﾳ) across different irrigation methods: drip, flood, rainfed, and sprinkler, with drip irrigation being the most efficient.&#10;&#10;AI-generated content may be incorrect.">
            <a:extLst>
              <a:ext uri="{FF2B5EF4-FFF2-40B4-BE49-F238E27FC236}">
                <a16:creationId xmlns:a16="http://schemas.microsoft.com/office/drawing/2014/main" id="{5B15114E-2DF0-DA1B-4685-432DE8C99C37}"/>
              </a:ext>
            </a:extLst>
          </p:cNvPr>
          <p:cNvPicPr>
            <a:picLocks noChangeAspect="1"/>
          </p:cNvPicPr>
          <p:nvPr/>
        </p:nvPicPr>
        <p:blipFill>
          <a:blip r:embed="rId3"/>
          <a:stretch>
            <a:fillRect/>
          </a:stretch>
        </p:blipFill>
        <p:spPr>
          <a:xfrm>
            <a:off x="1031450" y="1941449"/>
            <a:ext cx="5162694" cy="321386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10650526" cy="830997"/>
          </a:xfrm>
        </p:spPr>
        <p:txBody>
          <a:bodyPr>
            <a:normAutofit fontScale="90000"/>
          </a:bodyPr>
          <a:lstStyle/>
          <a:p>
            <a:pPr algn="ctr"/>
            <a:r>
              <a:rPr lang="en-GB" dirty="0"/>
              <a:t>RESULTS </a:t>
            </a:r>
            <a:r>
              <a:rPr lang="en-US" dirty="0"/>
              <a:t>– CROP PERFORMANCE ANALYSIS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1621766" y="5210356"/>
            <a:ext cx="5943600" cy="1199070"/>
          </a:xfrm>
        </p:spPr>
        <p:txBody>
          <a:bodyPr>
            <a:noAutofit/>
          </a:bodyPr>
          <a:lstStyle/>
          <a:p>
            <a:pPr marL="0" indent="0">
              <a:buNone/>
            </a:pPr>
            <a:r>
              <a:rPr lang="en-US" sz="1800" dirty="0"/>
              <a:t>Sugarcane recorded exceptionally high average yield (46.64 </a:t>
            </a:r>
            <a:r>
              <a:rPr lang="en-US" sz="1800" dirty="0" err="1"/>
              <a:t>tonnes</a:t>
            </a:r>
            <a:r>
              <a:rPr lang="en-US" sz="1800" dirty="0"/>
              <a:t>/ha), while Pulses recorded the lowest average yield (0.92 </a:t>
            </a:r>
            <a:r>
              <a:rPr lang="en-US" sz="1800" dirty="0" err="1"/>
              <a:t>tonnes</a:t>
            </a:r>
            <a:r>
              <a:rPr lang="en-US" sz="1800" dirty="0"/>
              <a:t>/ha).</a:t>
            </a:r>
            <a:endParaRPr lang="en-IN" sz="1800" dirty="0"/>
          </a:p>
        </p:txBody>
      </p:sp>
      <p:pic>
        <p:nvPicPr>
          <p:cNvPr id="3" name="Picture 2" descr="The image displays a bar chart representing the average yield in tonnes per hectare for various crops such as maize, rice, chilli, wheat, cotton, pulses, and sugarcane.&#10;&#10;AI-generated content may be incorrect.">
            <a:extLst>
              <a:ext uri="{FF2B5EF4-FFF2-40B4-BE49-F238E27FC236}">
                <a16:creationId xmlns:a16="http://schemas.microsoft.com/office/drawing/2014/main" id="{A59412B6-7578-307E-1D22-C0148049773A}"/>
              </a:ext>
            </a:extLst>
          </p:cNvPr>
          <p:cNvPicPr>
            <a:picLocks noChangeAspect="1"/>
          </p:cNvPicPr>
          <p:nvPr/>
        </p:nvPicPr>
        <p:blipFill>
          <a:blip r:embed="rId3"/>
          <a:stretch>
            <a:fillRect/>
          </a:stretch>
        </p:blipFill>
        <p:spPr>
          <a:xfrm>
            <a:off x="1329796" y="1781180"/>
            <a:ext cx="5605841" cy="329564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9158156" cy="830997"/>
          </a:xfrm>
        </p:spPr>
        <p:txBody>
          <a:bodyPr>
            <a:normAutofit fontScale="90000"/>
          </a:bodyPr>
          <a:lstStyle/>
          <a:p>
            <a:pPr algn="ctr"/>
            <a:r>
              <a:rPr lang="en-GB" dirty="0"/>
              <a:t>RESULTS </a:t>
            </a:r>
            <a:r>
              <a:rPr lang="en-US" dirty="0"/>
              <a:t>– CORRELATION ANALYSIS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1747519" y="5582629"/>
            <a:ext cx="5762012" cy="904782"/>
          </a:xfrm>
        </p:spPr>
        <p:txBody>
          <a:bodyPr>
            <a:noAutofit/>
          </a:bodyPr>
          <a:lstStyle/>
          <a:p>
            <a:pPr marL="0" indent="0">
              <a:buNone/>
            </a:pPr>
            <a:r>
              <a:rPr lang="en-US" sz="1600" dirty="0"/>
              <a:t>Water efficiency showed a very strong positive correlation with yield (r = 0.91), while yield showed a moderate positive correlation with profit (r = 0.49).</a:t>
            </a:r>
            <a:endParaRPr lang="en-IN" sz="1600" dirty="0"/>
          </a:p>
        </p:txBody>
      </p:sp>
      <p:pic>
        <p:nvPicPr>
          <p:cNvPr id="3" name="Picture 2" descr="This image is a correlation matrix displaying the relationship between various agricultural factors and their impact on different performance indicators, such as rainfall, temperature, humidity, soil moisture, fertilizer use, pesticide application, yield, profit, and water usage.&#10;&#10;AI-generated content may be incorrect.">
            <a:extLst>
              <a:ext uri="{FF2B5EF4-FFF2-40B4-BE49-F238E27FC236}">
                <a16:creationId xmlns:a16="http://schemas.microsoft.com/office/drawing/2014/main" id="{78E46513-82BC-EAD7-88B2-8F1AEAFB0DC1}"/>
              </a:ext>
            </a:extLst>
          </p:cNvPr>
          <p:cNvPicPr>
            <a:picLocks noChangeAspect="1"/>
          </p:cNvPicPr>
          <p:nvPr/>
        </p:nvPicPr>
        <p:blipFill>
          <a:blip r:embed="rId3"/>
          <a:stretch>
            <a:fillRect/>
          </a:stretch>
        </p:blipFill>
        <p:spPr>
          <a:xfrm>
            <a:off x="675957" y="1302588"/>
            <a:ext cx="6354571" cy="425282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33232F2-57A8-F0A3-E497-3C698970CF46}"/>
              </a:ext>
            </a:extLst>
          </p:cNvPr>
          <p:cNvSpPr txBox="1"/>
          <p:nvPr/>
        </p:nvSpPr>
        <p:spPr>
          <a:xfrm>
            <a:off x="518200" y="1308537"/>
            <a:ext cx="8009260" cy="4154984"/>
          </a:xfrm>
          <a:prstGeom prst="rect">
            <a:avLst/>
          </a:prstGeom>
          <a:noFill/>
        </p:spPr>
        <p:txBody>
          <a:bodyPr wrap="square" rtlCol="0">
            <a:spAutoFit/>
          </a:bodyPr>
          <a:lstStyle/>
          <a:p>
            <a:pPr marL="342900" lvl="0" indent="-342900">
              <a:buFont typeface="Arial" panose="020B0604020202020204" pitchFamily="34" charset="0"/>
              <a:buChar char="•"/>
            </a:pPr>
            <a:r>
              <a:rPr lang="en-US" sz="2400" dirty="0"/>
              <a:t>Real-time agricultural data integration for continuous monitoring. </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Weather forecasting integration to improve seasonal planning. </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Predictive machine learning models for crop yield and profit forecasting. </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Interactive dashboards for easier decision-making by farmers and agricultural 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713054F-9696-CC97-E27E-5D023B50D049}"/>
              </a:ext>
            </a:extLst>
          </p:cNvPr>
          <p:cNvSpPr txBox="1"/>
          <p:nvPr/>
        </p:nvSpPr>
        <p:spPr>
          <a:xfrm>
            <a:off x="879895" y="1337744"/>
            <a:ext cx="9143999" cy="369332"/>
          </a:xfrm>
          <a:prstGeom prst="rect">
            <a:avLst/>
          </a:prstGeom>
          <a:noFill/>
        </p:spPr>
        <p:txBody>
          <a:bodyPr wrap="square" rtlCol="0">
            <a:spAutoFit/>
          </a:bodyPr>
          <a:lstStyle/>
          <a:p>
            <a:r>
              <a:rPr lang="en-US" dirty="0"/>
              <a:t>https://github.com/Beneeta2601/seasonal-agriculture-performance-analysis.git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17369"/>
            <a:ext cx="8351388" cy="884658"/>
          </a:xfrm>
        </p:spPr>
        <p:txBody>
          <a:bodyPr>
            <a:normAutofit fontScale="90000"/>
          </a:bodyPr>
          <a:lstStyle/>
          <a:p>
            <a:pPr algn="ctr"/>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5F59F0DA-7CF4-3ED0-C794-561D663BF406}"/>
              </a:ext>
            </a:extLst>
          </p:cNvPr>
          <p:cNvPicPr>
            <a:picLocks noChangeAspect="1"/>
          </p:cNvPicPr>
          <p:nvPr/>
        </p:nvPicPr>
        <p:blipFill>
          <a:blip r:embed="rId3"/>
          <a:stretch>
            <a:fillRect/>
          </a:stretch>
        </p:blipFill>
        <p:spPr>
          <a:xfrm>
            <a:off x="1386312" y="1608410"/>
            <a:ext cx="6611870" cy="464826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endParaRPr lang="en-US" dirty="0"/>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1159</TotalTime>
  <Words>511</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 Display Bold</vt: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 SEASONAL YIELD ANALYSIS </vt:lpstr>
      <vt:lpstr>RESULTS – SEASONAL PROFITABILITY ANALYSIS</vt:lpstr>
      <vt:lpstr>RESULTS – IRRIGATION &amp; WATER EFFICIENCY </vt:lpstr>
      <vt:lpstr>RESULTS – CROP PERFORMANCE ANALYSIS </vt:lpstr>
      <vt:lpstr>RESULTS – CORRELATION ANALYSIS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Beneeta John</cp:lastModifiedBy>
  <cp:revision>103</cp:revision>
  <dcterms:created xsi:type="dcterms:W3CDTF">2021-07-11T13:13:15Z</dcterms:created>
  <dcterms:modified xsi:type="dcterms:W3CDTF">2026-09-10T12:24:47Z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